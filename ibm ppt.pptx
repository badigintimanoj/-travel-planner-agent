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7" r:id="rId7"/>
    <p:sldId id="288"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6DECDA-05FD-4213-B9CC-E74F9861C001}" v="46" dt="2026-06-04T13:36:11.30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86"/>
  </p:normalViewPr>
  <p:slideViewPr>
    <p:cSldViewPr snapToGrid="0">
      <p:cViewPr>
        <p:scale>
          <a:sx n="90" d="100"/>
          <a:sy n="90" d="100"/>
        </p:scale>
        <p:origin x="23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95427569"/>
              </p:ext>
            </p:extLst>
          </p:nvPr>
        </p:nvGraphicFramePr>
        <p:xfrm>
          <a:off x="1299257" y="2600315"/>
          <a:ext cx="9394989" cy="2329834"/>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35943">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1600" b="1" dirty="0"/>
                        <a:t>MANOJ BADIGINTI</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b="0" dirty="0">
                          <a:latin typeface="Arial" panose="020B0604020202020204" pitchFamily="34" charset="0"/>
                          <a:cs typeface="Arial" panose="020B0604020202020204" pitchFamily="34" charset="0"/>
                        </a:rPr>
                        <a:t>manojbadiginti2@gmail.com</a:t>
                      </a:r>
                      <a:endParaRPr b="0" dirty="0">
                        <a:latin typeface="Arial" panose="020B0604020202020204" pitchFamily="34" charset="0"/>
                        <a:cs typeface="Arial" panose="020B0604020202020204" pitchFamily="34"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b="1" dirty="0"/>
                        <a:t>8185079095</a:t>
                      </a:r>
                      <a:endParaRPr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Travel &amp; Tourism</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u="sng" dirty="0">
                <a:latin typeface="Arial Black" panose="020B0A04020102020204" pitchFamily="34" charset="0"/>
              </a:rPr>
              <a:t>Travel Planner Agent</a:t>
            </a:r>
            <a:endParaRPr lang="en-IN" sz="2400" b="1" u="sng" dirty="0">
              <a:highlight>
                <a:srgbClr val="FFFF00"/>
              </a:highlight>
              <a:latin typeface="Arial Black" panose="020B0A040201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322930"/>
            <a:ext cx="10607040" cy="3785652"/>
          </a:xfrm>
          <a:prstGeom prst="rect">
            <a:avLst/>
          </a:prstGeom>
          <a:noFill/>
        </p:spPr>
        <p:txBody>
          <a:bodyPr wrap="square" rtlCol="0">
            <a:spAutoFit/>
          </a:bodyPr>
          <a:lstStyle/>
          <a:p>
            <a:r>
              <a:rPr lang="en-IN" sz="1600" b="1" u="sng" dirty="0"/>
              <a:t>Problem Statement</a:t>
            </a:r>
            <a:r>
              <a:rPr lang="en-IN" b="1" dirty="0"/>
              <a:t>: </a:t>
            </a:r>
            <a:r>
              <a:rPr lang="en-IN" b="1" i="1" dirty="0"/>
              <a:t>Travel Planner Agent</a:t>
            </a:r>
          </a:p>
          <a:p>
            <a:endParaRPr lang="en-IN" dirty="0"/>
          </a:p>
          <a:p>
            <a:r>
              <a:rPr lang="en-IN" b="1" u="sng" dirty="0"/>
              <a:t>The Challenge</a:t>
            </a:r>
          </a:p>
          <a:p>
            <a:endParaRPr lang="en-IN" u="sng" dirty="0"/>
          </a:p>
          <a:p>
            <a:r>
              <a:rPr lang="en-IN" dirty="0"/>
              <a:t>Travel planning can be time-consuming and confusing. Users need to search multiple websites for destinations, hotels, transportation, weather information, and travel tips. This process often results in poor planning and missed opportunities.</a:t>
            </a:r>
          </a:p>
          <a:p>
            <a:endParaRPr lang="en-IN" dirty="0"/>
          </a:p>
          <a:p>
            <a:r>
              <a:rPr lang="en-IN" b="1" u="sng" dirty="0"/>
              <a:t>The Objective</a:t>
            </a:r>
          </a:p>
          <a:p>
            <a:endParaRPr lang="en-IN" dirty="0"/>
          </a:p>
          <a:p>
            <a:pPr marL="285750" indent="-285750">
              <a:buFont typeface="Arial" panose="020B0604020202020204" pitchFamily="34" charset="0"/>
              <a:buChar char="•"/>
            </a:pPr>
            <a:r>
              <a:rPr lang="en-IN" dirty="0"/>
              <a:t>Build an AI-powered Travel Planner Agent that:</a:t>
            </a:r>
          </a:p>
          <a:p>
            <a:pPr marL="285750" indent="-285750">
              <a:buFont typeface="Arial" panose="020B0604020202020204" pitchFamily="34" charset="0"/>
              <a:buChar char="•"/>
            </a:pPr>
            <a:r>
              <a:rPr lang="en-IN" dirty="0"/>
              <a:t>Creates personalized travel itineraries </a:t>
            </a:r>
          </a:p>
          <a:p>
            <a:pPr marL="285750" indent="-285750">
              <a:buFont typeface="Arial" panose="020B0604020202020204" pitchFamily="34" charset="0"/>
              <a:buChar char="•"/>
            </a:pPr>
            <a:r>
              <a:rPr lang="en-IN" dirty="0"/>
              <a:t>Recommends hotels and accommodations </a:t>
            </a:r>
          </a:p>
          <a:p>
            <a:pPr marL="285750" indent="-285750">
              <a:buFont typeface="Arial" panose="020B0604020202020204" pitchFamily="34" charset="0"/>
              <a:buChar char="•"/>
            </a:pPr>
            <a:r>
              <a:rPr lang="en-IN" dirty="0"/>
              <a:t>Suggests transportation options </a:t>
            </a:r>
          </a:p>
          <a:p>
            <a:pPr marL="285750" indent="-285750">
              <a:buFont typeface="Arial" panose="020B0604020202020204" pitchFamily="34" charset="0"/>
              <a:buChar char="•"/>
            </a:pPr>
            <a:r>
              <a:rPr lang="en-IN" dirty="0"/>
              <a:t>Provides travel tips and local attractions </a:t>
            </a:r>
          </a:p>
          <a:p>
            <a:pPr marL="285750" indent="-285750">
              <a:buFont typeface="Arial" panose="020B0604020202020204" pitchFamily="34" charset="0"/>
              <a:buChar char="•"/>
            </a:pPr>
            <a:r>
              <a:rPr lang="en-IN" dirty="0"/>
              <a:t>Understands user preferences and budgets </a:t>
            </a:r>
          </a:p>
          <a:p>
            <a:pPr marL="285750" indent="-285750">
              <a:buFont typeface="Arial" panose="020B0604020202020204" pitchFamily="34" charset="0"/>
              <a:buChar char="•"/>
            </a:pPr>
            <a:r>
              <a:rPr lang="en-IN" dirty="0"/>
              <a:t>Delivers travel guidance through natural conversations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677656"/>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IBM watsonx.ai + </a:t>
            </a:r>
            <a:r>
              <a:rPr lang="en-IN" dirty="0" err="1">
                <a:highlight>
                  <a:srgbClr val="FFFF00"/>
                </a:highlight>
              </a:rPr>
              <a:t>watsonx</a:t>
            </a:r>
            <a:r>
              <a:rPr lang="en-IN" dirty="0">
                <a:highlight>
                  <a:srgbClr val="FFFF00"/>
                </a:highlight>
              </a:rPr>
              <a:t> Orchestrate-p7</a:t>
            </a:r>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108543"/>
          </a:xfrm>
          <a:prstGeom prst="rect">
            <a:avLst/>
          </a:prstGeom>
          <a:noFill/>
        </p:spPr>
        <p:txBody>
          <a:bodyPr wrap="square" rtlCol="0">
            <a:spAutoFit/>
          </a:bodyPr>
          <a:lstStyle/>
          <a:p>
            <a:pPr marL="285750" indent="-285750" fontAlgn="base">
              <a:buFont typeface="Arial" panose="020B0604020202020204" pitchFamily="34" charset="0"/>
              <a:buChar char="•"/>
            </a:pPr>
            <a:r>
              <a:rPr lang="en-IN" dirty="0"/>
              <a:t>Our proposed solution is Travel Planner Agent AI, an AI-powered Travel Planner Agent developed using IBM watsonx.ai, IBM Granite Models, IBM </a:t>
            </a:r>
            <a:r>
              <a:rPr lang="en-IN" dirty="0" err="1"/>
              <a:t>watsonx</a:t>
            </a:r>
            <a:r>
              <a:rPr lang="en-IN" dirty="0"/>
              <a:t> Orchestrate, and IBM Cloud Lite Services</a:t>
            </a:r>
          </a:p>
          <a:p>
            <a:pPr marL="285750" indent="-285750" fontAlgn="base">
              <a:buFont typeface="Arial" panose="020B0604020202020204" pitchFamily="34" charset="0"/>
              <a:buChar char="•"/>
            </a:pPr>
            <a:r>
              <a:rPr lang="en-IN" dirty="0"/>
              <a:t>The main objective of this project is to simplify travel planning and provide users with personalized travel recommendations through a conversational AI interface.</a:t>
            </a:r>
          </a:p>
          <a:p>
            <a:pPr marL="285750" indent="-285750" fontAlgn="base">
              <a:buFont typeface="Arial" panose="020B0604020202020204" pitchFamily="34" charset="0"/>
              <a:buChar char="•"/>
            </a:pPr>
            <a:r>
              <a:rPr lang="en-IN" dirty="0"/>
              <a:t>The agent interacts with users and collects important information such as destination, budget, trip duration, and travel preferences. Based on these inputs, the IBM Granite model </a:t>
            </a:r>
            <a:r>
              <a:rPr lang="en-IN" dirty="0" err="1"/>
              <a:t>analyzes</a:t>
            </a:r>
            <a:r>
              <a:rPr lang="en-IN" dirty="0"/>
              <a:t> the requirements and generates customized travel itineraries.</a:t>
            </a:r>
          </a:p>
          <a:p>
            <a:pPr marL="285750" indent="-285750" fontAlgn="base">
              <a:buFont typeface="Arial" panose="020B0604020202020204" pitchFamily="34" charset="0"/>
              <a:buChar char="•"/>
            </a:pPr>
            <a:r>
              <a:rPr lang="en-IN" dirty="0"/>
              <a:t>The system also recommends suitable hotels, transportation options, tourist attractions, and useful travel tips. Users can simply chat with the agent in natural language, making the travel planning process easier and more user-friendly.</a:t>
            </a:r>
          </a:p>
          <a:p>
            <a:pPr marL="285750" indent="-285750" fontAlgn="base">
              <a:buFont typeface="Arial" panose="020B0604020202020204" pitchFamily="34" charset="0"/>
              <a:buChar char="•"/>
            </a:pPr>
            <a:r>
              <a:rPr lang="en-IN" dirty="0"/>
              <a:t>IBM </a:t>
            </a:r>
            <a:r>
              <a:rPr lang="en-IN" dirty="0" err="1"/>
              <a:t>watsonx</a:t>
            </a:r>
            <a:r>
              <a:rPr lang="en-IN" dirty="0"/>
              <a:t> Orchestrate is used to build and manage the Travel Planner Agent, while IBM Granite Models provide the intelligence required to understand user queries and generate personalized responses.</a:t>
            </a:r>
          </a:p>
          <a:p>
            <a:pPr marL="285750" indent="-285750" fontAlgn="base">
              <a:buFont typeface="Arial" panose="020B0604020202020204" pitchFamily="34" charset="0"/>
              <a:buChar char="•"/>
            </a:pPr>
            <a:r>
              <a:rPr lang="en-IN" dirty="0"/>
              <a:t>Overall, Travel Planner Agent AI acts as a smart travel companion that helps users save time, make informed decisions, and enjoy a seamless travel planning experience.</a:t>
            </a:r>
          </a:p>
          <a:p>
            <a:pPr fontAlgn="base"/>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CBD668-8497-A47C-D779-7E71BED638BD}"/>
              </a:ext>
            </a:extLst>
          </p:cNvPr>
          <p:cNvPicPr>
            <a:picLocks noChangeAspect="1"/>
          </p:cNvPicPr>
          <p:nvPr/>
        </p:nvPicPr>
        <p:blipFill>
          <a:blip r:embed="rId2"/>
          <a:stretch>
            <a:fillRect/>
          </a:stretch>
        </p:blipFill>
        <p:spPr>
          <a:xfrm>
            <a:off x="0" y="-115672"/>
            <a:ext cx="12192000" cy="3197538"/>
          </a:xfrm>
          <a:prstGeom prst="rect">
            <a:avLst/>
          </a:prstGeom>
        </p:spPr>
      </p:pic>
      <p:pic>
        <p:nvPicPr>
          <p:cNvPr id="5" name="Picture 4">
            <a:extLst>
              <a:ext uri="{FF2B5EF4-FFF2-40B4-BE49-F238E27FC236}">
                <a16:creationId xmlns:a16="http://schemas.microsoft.com/office/drawing/2014/main" id="{6373B786-678D-C29B-0446-392D5048D554}"/>
              </a:ext>
            </a:extLst>
          </p:cNvPr>
          <p:cNvPicPr>
            <a:picLocks noChangeAspect="1"/>
          </p:cNvPicPr>
          <p:nvPr/>
        </p:nvPicPr>
        <p:blipFill>
          <a:blip r:embed="rId3"/>
          <a:stretch>
            <a:fillRect/>
          </a:stretch>
        </p:blipFill>
        <p:spPr>
          <a:xfrm>
            <a:off x="-2" y="3208871"/>
            <a:ext cx="12192000" cy="3078530"/>
          </a:xfrm>
          <a:prstGeom prst="rect">
            <a:avLst/>
          </a:prstGeom>
        </p:spPr>
      </p:pic>
    </p:spTree>
    <p:extLst>
      <p:ext uri="{BB962C8B-B14F-4D97-AF65-F5344CB8AC3E}">
        <p14:creationId xmlns:p14="http://schemas.microsoft.com/office/powerpoint/2010/main" val="3696792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B59786-D64F-027E-439E-FB0E29A6BC65}"/>
              </a:ext>
            </a:extLst>
          </p:cNvPr>
          <p:cNvPicPr>
            <a:picLocks noChangeAspect="1"/>
          </p:cNvPicPr>
          <p:nvPr/>
        </p:nvPicPr>
        <p:blipFill>
          <a:blip r:embed="rId2"/>
          <a:stretch>
            <a:fillRect/>
          </a:stretch>
        </p:blipFill>
        <p:spPr>
          <a:xfrm>
            <a:off x="0" y="-8466"/>
            <a:ext cx="12192000" cy="3039533"/>
          </a:xfrm>
          <a:prstGeom prst="rect">
            <a:avLst/>
          </a:prstGeom>
        </p:spPr>
      </p:pic>
      <p:pic>
        <p:nvPicPr>
          <p:cNvPr id="5" name="Picture 4">
            <a:extLst>
              <a:ext uri="{FF2B5EF4-FFF2-40B4-BE49-F238E27FC236}">
                <a16:creationId xmlns:a16="http://schemas.microsoft.com/office/drawing/2014/main" id="{66AD7153-D00B-0E1B-3DBD-EDFD8276E697}"/>
              </a:ext>
            </a:extLst>
          </p:cNvPr>
          <p:cNvPicPr>
            <a:picLocks noChangeAspect="1"/>
          </p:cNvPicPr>
          <p:nvPr/>
        </p:nvPicPr>
        <p:blipFill>
          <a:blip r:embed="rId3"/>
          <a:stretch>
            <a:fillRect/>
          </a:stretch>
        </p:blipFill>
        <p:spPr>
          <a:xfrm>
            <a:off x="0" y="3031066"/>
            <a:ext cx="12192000" cy="3261591"/>
          </a:xfrm>
          <a:prstGeom prst="rect">
            <a:avLst/>
          </a:prstGeom>
        </p:spPr>
      </p:pic>
    </p:spTree>
    <p:extLst>
      <p:ext uri="{BB962C8B-B14F-4D97-AF65-F5344CB8AC3E}">
        <p14:creationId xmlns:p14="http://schemas.microsoft.com/office/powerpoint/2010/main" val="1382677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793685" y="1071448"/>
            <a:ext cx="10240029"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a:blip r:embed="rId3">
            <a:alphaModFix/>
          </a:blip>
          <a:srcRect/>
          <a:stretch/>
        </p:blipFill>
        <p:spPr>
          <a:xfrm>
            <a:off x="8371985" y="1167493"/>
            <a:ext cx="3416892" cy="3570208"/>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561920" y="273631"/>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61920" y="1167493"/>
            <a:ext cx="7406640" cy="3570208"/>
          </a:xfrm>
          <a:prstGeom prst="rect">
            <a:avLst/>
          </a:prstGeom>
          <a:noFill/>
        </p:spPr>
        <p:txBody>
          <a:bodyPr wrap="square" rtlCol="0">
            <a:spAutoFit/>
          </a:bodyPr>
          <a:lstStyle/>
          <a:p>
            <a:r>
              <a:rPr lang="en-US" sz="1600" b="1" u="sng" dirty="0">
                <a:latin typeface="Arial Black" panose="020B0A04020102020204" pitchFamily="34" charset="0"/>
              </a:rPr>
              <a:t>Role of agentic AI in travel planner agent</a:t>
            </a:r>
          </a:p>
          <a:p>
            <a:r>
              <a:rPr lang="en-US" b="1" dirty="0"/>
              <a:t> </a:t>
            </a:r>
          </a:p>
          <a:p>
            <a:r>
              <a:rPr lang="en-IN" dirty="0">
                <a:latin typeface="Gadugi" panose="020B0502040204020203" pitchFamily="34" charset="0"/>
                <a:ea typeface="Gadugi" panose="020B0502040204020203" pitchFamily="34" charset="0"/>
              </a:rPr>
              <a:t>Agentic AI transforms the application from a passive, script-based chatbot into an active, autonomous assistant that can independently break down a complex, multi-day travel request into distinct operational sub-tasks like routing, budgeting, and scheduling without needing constant manual direction. This process is driven by multi-agent collaboration, where specialized, independent micro-agents—such as a City Selection Agent and a Local Concierge Agent—work together and fluidly share data behind the scenes to construct a unified, seamless itinerary. Throughout the interaction, the system maintains dynamic context retention by keeping an active memory of the </a:t>
            </a:r>
            <a:r>
              <a:rPr lang="en-IN" dirty="0" err="1">
                <a:latin typeface="Gadugi" panose="020B0502040204020203" pitchFamily="34" charset="0"/>
                <a:ea typeface="Gadugi" panose="020B0502040204020203" pitchFamily="34" charset="0"/>
              </a:rPr>
              <a:t>traveler's</a:t>
            </a:r>
            <a:r>
              <a:rPr lang="en-IN" dirty="0">
                <a:latin typeface="Gadugi" panose="020B0502040204020203" pitchFamily="34" charset="0"/>
                <a:ea typeface="Gadugi" panose="020B0502040204020203" pitchFamily="34" charset="0"/>
              </a:rPr>
              <a:t> specific budget, personal style, and trip duration constraints, which allows it to instantly update and recalibrate the entire travel plan if the user changes their inputs mid-conversation. Finally, by utilizing the logical reasoning and processing capabilities of the IBM Granite model, the agent performs continuous self-correction and validation to ensure that all recommended travel times, lodging options, and daily activities are realistic, mathematically accurate, and geographically viable before presenting them to the </a:t>
            </a:r>
            <a:r>
              <a:rPr lang="en-IN" dirty="0" err="1">
                <a:latin typeface="Gadugi" panose="020B0502040204020203" pitchFamily="34" charset="0"/>
                <a:ea typeface="Gadugi" panose="020B0502040204020203" pitchFamily="34" charset="0"/>
              </a:rPr>
              <a:t>traveler</a:t>
            </a:r>
            <a:r>
              <a:rPr lang="en-IN" dirty="0">
                <a:latin typeface="Gadugi" panose="020B0502040204020203" pitchFamily="34" charset="0"/>
                <a:ea typeface="Gadugi" panose="020B0502040204020203" pitchFamily="34" charset="0"/>
              </a:rPr>
              <a:t>.</a:t>
            </a:r>
            <a:endParaRPr lang="en-US" dirty="0">
              <a:latin typeface="Gadugi" panose="020B0502040204020203" pitchFamily="34" charset="0"/>
              <a:ea typeface="Gadugi" panose="020B05020402040202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124206"/>
          </a:xfrm>
          <a:prstGeom prst="rect">
            <a:avLst/>
          </a:prstGeom>
          <a:noFill/>
        </p:spPr>
        <p:txBody>
          <a:bodyPr wrap="square" rtlCol="0">
            <a:spAutoFit/>
          </a:bodyPr>
          <a:lstStyle/>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9506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856734"/>
            <a:ext cx="11301984" cy="6217087"/>
          </a:xfrm>
          <a:prstGeom prst="rect">
            <a:avLst/>
          </a:prstGeom>
          <a:noFill/>
        </p:spPr>
        <p:txBody>
          <a:bodyPr wrap="square" rtlCol="0">
            <a:spAutoFit/>
          </a:bodyPr>
          <a:lstStyle/>
          <a:p>
            <a:r>
              <a:rPr lang="en-IN" sz="1600" dirty="0"/>
              <a:t>The proposed </a:t>
            </a:r>
            <a:r>
              <a:rPr lang="en-IN" sz="1600" dirty="0" err="1"/>
              <a:t>TravelMate</a:t>
            </a:r>
            <a:r>
              <a:rPr lang="en-IN" sz="1600" dirty="0"/>
              <a:t> AI – Travel Planner Agent stands out by combining Artificial Intelligence, personalization, and conversational assistance into a single intelligent travel planning solution.</a:t>
            </a:r>
          </a:p>
          <a:p>
            <a:endParaRPr lang="en-IN" sz="1600" dirty="0"/>
          </a:p>
          <a:p>
            <a:r>
              <a:rPr lang="en-IN" sz="1600" b="1" dirty="0"/>
              <a:t>Personalized Travel Planning</a:t>
            </a:r>
            <a:r>
              <a:rPr lang="en-IN" sz="1600" dirty="0"/>
              <a:t> – Generates customized travel itineraries based on user preferences, budget, travel duration, and interests.</a:t>
            </a:r>
          </a:p>
          <a:p>
            <a:endParaRPr lang="en-IN" sz="1600" dirty="0"/>
          </a:p>
          <a:p>
            <a:r>
              <a:rPr lang="en-IN" sz="1600" b="1" dirty="0"/>
              <a:t>AI-Powered Recommendations</a:t>
            </a:r>
            <a:r>
              <a:rPr lang="en-IN" sz="1600" dirty="0"/>
              <a:t> – Uses IBM Granite Models to provide intelligent suggestions for destinations, accommodations, transportation, and activities.</a:t>
            </a:r>
          </a:p>
          <a:p>
            <a:endParaRPr lang="en-IN" sz="1600" dirty="0"/>
          </a:p>
          <a:p>
            <a:r>
              <a:rPr lang="en-IN" sz="1600" b="1" dirty="0"/>
              <a:t>Conversational User Experience</a:t>
            </a:r>
            <a:r>
              <a:rPr lang="en-IN" sz="1600" dirty="0"/>
              <a:t> – Allows users to interact naturally with the system through simple conversations instead of manually searching multiple websites.</a:t>
            </a:r>
          </a:p>
          <a:p>
            <a:endParaRPr lang="en-IN" sz="1600" dirty="0"/>
          </a:p>
          <a:p>
            <a:r>
              <a:rPr lang="en-IN" sz="1600" b="1" dirty="0"/>
              <a:t>Smart Itinerary Generation</a:t>
            </a:r>
            <a:r>
              <a:rPr lang="en-IN" sz="1600" dirty="0"/>
              <a:t> – Automatically creates day-wise travel plans tailored to the user's requirements.</a:t>
            </a:r>
          </a:p>
          <a:p>
            <a:endParaRPr lang="en-IN" sz="1600" dirty="0"/>
          </a:p>
          <a:p>
            <a:r>
              <a:rPr lang="en-IN" sz="1600" b="1" dirty="0"/>
              <a:t>Budget-Aware Planning</a:t>
            </a:r>
            <a:r>
              <a:rPr lang="en-IN" sz="1600" dirty="0"/>
              <a:t> – Suggests travel options and accommodations that match the user's budget constraints.</a:t>
            </a:r>
          </a:p>
          <a:p>
            <a:endParaRPr lang="en-IN" sz="1600" dirty="0"/>
          </a:p>
          <a:p>
            <a:r>
              <a:rPr lang="en-IN" sz="1600" b="1" dirty="0"/>
              <a:t>Travel Guidance &amp; Tips</a:t>
            </a:r>
            <a:r>
              <a:rPr lang="en-IN" sz="1600" dirty="0"/>
              <a:t> – Provides useful travel advice, local attraction recommendations, and destination-specific information.</a:t>
            </a:r>
          </a:p>
          <a:p>
            <a:endParaRPr lang="en-IN" sz="1600" dirty="0"/>
          </a:p>
          <a:p>
            <a:r>
              <a:rPr lang="en-IN" sz="1600" b="1" dirty="0"/>
              <a:t>Scalable and Reliable Solution</a:t>
            </a:r>
            <a:r>
              <a:rPr lang="en-IN" sz="1600" dirty="0"/>
              <a:t> – Built using IBM watsonx.ai, IBM </a:t>
            </a:r>
            <a:r>
              <a:rPr lang="en-IN" sz="1600" dirty="0" err="1"/>
              <a:t>watsonx</a:t>
            </a:r>
            <a:r>
              <a:rPr lang="en-IN" sz="1600" dirty="0"/>
              <a:t> Orchestrate, and IBM Cloud Lite Services, ensuring reliability and scalability.</a:t>
            </a:r>
          </a:p>
          <a:p>
            <a:endParaRPr lang="en-IN" sz="1600" dirty="0"/>
          </a:p>
          <a:p>
            <a:r>
              <a:rPr lang="en-IN" sz="1600" dirty="0"/>
              <a:t>This makes </a:t>
            </a:r>
            <a:r>
              <a:rPr lang="en-IN" sz="1600" dirty="0" err="1"/>
              <a:t>TravelMate</a:t>
            </a:r>
            <a:r>
              <a:rPr lang="en-IN" sz="1600" dirty="0"/>
              <a:t> AI a smart, personalized, and user-friendly travel assistant that simplifies trip planning and enhances the overall travel experience.</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–https://github.com/badigintimanoj</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B12A390B-7586-6C3F-4C8B-900CC5579BAE}"/>
              </a:ext>
            </a:extLst>
          </p:cNvPr>
          <p:cNvSpPr txBox="1"/>
          <p:nvPr/>
        </p:nvSpPr>
        <p:spPr>
          <a:xfrm>
            <a:off x="1218724" y="1502364"/>
            <a:ext cx="7713610" cy="3354765"/>
          </a:xfrm>
          <a:prstGeom prst="rect">
            <a:avLst/>
          </a:prstGeom>
          <a:noFill/>
        </p:spPr>
        <p:txBody>
          <a:bodyPr wrap="square">
            <a:spAutoFit/>
          </a:bodyPr>
          <a:lstStyle/>
          <a:p>
            <a:r>
              <a:rPr lang="en-IN" u="sng" dirty="0">
                <a:latin typeface="Arial Black" panose="020B0A04020102020204" pitchFamily="34" charset="0"/>
              </a:rPr>
              <a:t>• </a:t>
            </a:r>
            <a:r>
              <a:rPr lang="en-IN" b="1" u="sng" dirty="0">
                <a:latin typeface="Arial Black" panose="020B0A04020102020204" pitchFamily="34" charset="0"/>
              </a:rPr>
              <a:t>Real-Time Travel Integration</a:t>
            </a:r>
            <a:r>
              <a:rPr lang="en-IN" b="1" dirty="0"/>
              <a:t>:</a:t>
            </a:r>
          </a:p>
          <a:p>
            <a:br>
              <a:rPr lang="en-IN" dirty="0"/>
            </a:br>
            <a:r>
              <a:rPr lang="en-IN" sz="1600" dirty="0"/>
              <a:t>In the future, the Travel Planner Agent can be integrated with real-time weather services, flight booking platforms, hotel reservation systems, and transportation services. This will enable users to receive live updates, compare travel options, and make bookings directly through the AI assistant.</a:t>
            </a:r>
          </a:p>
          <a:p>
            <a:endParaRPr lang="en-IN" dirty="0"/>
          </a:p>
          <a:p>
            <a:endParaRPr lang="en-IN" dirty="0"/>
          </a:p>
          <a:p>
            <a:r>
              <a:rPr lang="en-IN" u="sng" dirty="0">
                <a:latin typeface="Arial Black" panose="020B0A04020102020204" pitchFamily="34" charset="0"/>
              </a:rPr>
              <a:t>• </a:t>
            </a:r>
            <a:r>
              <a:rPr lang="en-IN" b="1" u="sng" dirty="0">
                <a:latin typeface="Arial Black" panose="020B0A04020102020204" pitchFamily="34" charset="0"/>
              </a:rPr>
              <a:t>Advanced Personalized Travel Assistance:</a:t>
            </a:r>
          </a:p>
          <a:p>
            <a:br>
              <a:rPr lang="en-IN" dirty="0"/>
            </a:br>
            <a:r>
              <a:rPr lang="en-IN" sz="1600" dirty="0"/>
              <a:t>The system can be enhanced with voice interaction, multilingual support, GPS navigation, and AI-based travel recommendations using user history and preferences. This will provide a more personalized, interactive, and seamless travel planning experience for users.</a:t>
            </a: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1440</TotalTime>
  <Words>1054</Words>
  <Application>Microsoft Office PowerPoint</Application>
  <PresentationFormat>Widescreen</PresentationFormat>
  <Paragraphs>94</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Gadugi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Manoj Badiginti</cp:lastModifiedBy>
  <cp:revision>22</cp:revision>
  <dcterms:created xsi:type="dcterms:W3CDTF">2025-07-08T05:06:56Z</dcterms:created>
  <dcterms:modified xsi:type="dcterms:W3CDTF">2026-06-04T15:01:17Z</dcterms:modified>
</cp:coreProperties>
</file>